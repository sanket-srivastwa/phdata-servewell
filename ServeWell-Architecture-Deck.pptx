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12188952" cy="4114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154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ServeWell IT Support Agent Suite — agents, retrieval, tools, guardrails &amp; orchestration, component-level and end-to-end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appendix  ·  Applied AI Solution Architect Pilot Proposal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ABCData Intelligence Platform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layers, from ticket in to human-approved action out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09728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91640" y="1325880"/>
            <a:ext cx="316382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91640" y="1325880"/>
            <a:ext cx="316382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(demo / run / eval)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29784" y="1325880"/>
            <a:ext cx="316382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9784" y="1325880"/>
            <a:ext cx="316382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(stdlib HTTP + JS)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567928" y="1325880"/>
            <a:ext cx="316382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67928" y="1325880"/>
            <a:ext cx="316382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ITSM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intake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83096" y="1783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039112"/>
            <a:ext cx="1097280" cy="41148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039112"/>
            <a:ext cx="10972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91640" y="2039112"/>
            <a:ext cx="10040112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91640" y="2039112"/>
            <a:ext cx="1004011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ingest &amp; parse — raw text / JSON / CSV / sample dataset  →  Ticket object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83096" y="24505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2688336"/>
            <a:ext cx="1097280" cy="77724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2688336"/>
            <a:ext cx="10972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 Suite)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91640" y="2688336"/>
            <a:ext cx="155905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97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91640" y="2688336"/>
            <a:ext cx="155905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Enrich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7852" y="2688336"/>
            <a:ext cx="1559052" cy="777240"/>
          </a:xfrm>
          <a:prstGeom prst="roundRect">
            <a:avLst>
              <a:gd name="adj" fmla="val 5882"/>
            </a:avLst>
          </a:prstGeom>
          <a:solidFill>
            <a:srgbClr val="F4F7FD"/>
          </a:solidFill>
          <a:ln w="13970">
            <a:solidFill>
              <a:srgbClr val="1E2761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3387852" y="2688336"/>
            <a:ext cx="155905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Reader*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(AI, optional)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84064" y="2688336"/>
            <a:ext cx="155905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97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84064" y="2688336"/>
            <a:ext cx="155905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(RAG)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80276" y="2688336"/>
            <a:ext cx="1559052" cy="777240"/>
          </a:xfrm>
          <a:prstGeom prst="roundRect">
            <a:avLst>
              <a:gd name="adj" fmla="val 5882"/>
            </a:avLst>
          </a:prstGeom>
          <a:solidFill>
            <a:srgbClr val="CADCFC"/>
          </a:solidFill>
          <a:ln w="1397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80276" y="2688336"/>
            <a:ext cx="155905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Routing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76488" y="2688336"/>
            <a:ext cx="155905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97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76488" y="2688336"/>
            <a:ext cx="155905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(Guidance)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172700" y="2688336"/>
            <a:ext cx="155905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97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172700" y="2688336"/>
            <a:ext cx="155905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(verify)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483096" y="34655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7200" y="3703320"/>
            <a:ext cx="1097280" cy="77724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57200" y="3703320"/>
            <a:ext cx="10972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(simulated)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691640" y="3703320"/>
            <a:ext cx="2372868" cy="777240"/>
          </a:xfrm>
          <a:prstGeom prst="roundRect">
            <a:avLst>
              <a:gd name="adj" fmla="val 5882"/>
            </a:avLst>
          </a:prstGeom>
          <a:solidFill>
            <a:srgbClr val="E9F5EE"/>
          </a:solidFill>
          <a:ln w="13970">
            <a:solidFill>
              <a:srgbClr val="2C5F2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691640" y="3703320"/>
            <a:ext cx="23728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/ RAG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index (BM25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ranking)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247388" y="3703320"/>
            <a:ext cx="2372868" cy="777240"/>
          </a:xfrm>
          <a:prstGeom prst="roundRect">
            <a:avLst>
              <a:gd name="adj" fmla="val 5882"/>
            </a:avLst>
          </a:prstGeom>
          <a:solidFill>
            <a:srgbClr val="E9F5EE"/>
          </a:solidFill>
          <a:ln w="13970">
            <a:solidFill>
              <a:srgbClr val="2C5F2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247388" y="3703320"/>
            <a:ext cx="23728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/ assets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/ ticket history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03136" y="3703320"/>
            <a:ext cx="2372868" cy="777240"/>
          </a:xfrm>
          <a:prstGeom prst="roundRect">
            <a:avLst>
              <a:gd name="adj" fmla="val 5882"/>
            </a:avLst>
          </a:prstGeom>
          <a:solidFill>
            <a:srgbClr val="E9F5EE"/>
          </a:solidFill>
          <a:ln w="13970">
            <a:solidFill>
              <a:srgbClr val="2C5F2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03136" y="3703320"/>
            <a:ext cx="23728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catalog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(allow-list)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358884" y="3703320"/>
            <a:ext cx="2372868" cy="777240"/>
          </a:xfrm>
          <a:prstGeom prst="roundRect">
            <a:avLst>
              <a:gd name="adj" fmla="val 5882"/>
            </a:avLst>
          </a:prstGeom>
          <a:solidFill>
            <a:srgbClr val="E9F5EE"/>
          </a:solidFill>
          <a:ln w="13970">
            <a:solidFill>
              <a:srgbClr val="2C5F2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358884" y="3703320"/>
            <a:ext cx="23728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6483096" y="448056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57200" y="4718304"/>
            <a:ext cx="109728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57200" y="4718304"/>
            <a:ext cx="10972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Outputs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691640" y="4718304"/>
            <a:ext cx="3163824" cy="457200"/>
          </a:xfrm>
          <a:prstGeom prst="roundRect">
            <a:avLst>
              <a:gd name="adj" fmla="val 10000"/>
            </a:avLst>
          </a:prstGeom>
          <a:solidFill>
            <a:srgbClr val="FDEDE8"/>
          </a:solidFill>
          <a:ln w="1397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691640" y="4718304"/>
            <a:ext cx="316382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(P1 / low-confidence)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129784" y="4718304"/>
            <a:ext cx="316382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129784" y="4718304"/>
            <a:ext cx="316382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 message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guided steps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567928" y="4718304"/>
            <a:ext cx="316382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1E276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567928" y="4718304"/>
            <a:ext cx="316382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update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escalation handoff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457200" y="610819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*Reader (AI) adds evidence and an advisory opinion only — it never decides the route or bypasses a guardrail.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ServeWell IT Support Agent Suite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SupportAgentSuite.process() — exact call order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77256" cy="1149858"/>
          </a:xfrm>
          <a:prstGeom prst="roundRect">
            <a:avLst>
              <a:gd name="adj" fmla="val 5567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63624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563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527048"/>
            <a:ext cx="4700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&amp; Enrich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1837944"/>
            <a:ext cx="4700016" cy="6469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Rule-based: domain, issue core, error codes, dissatisfaction, injection flags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54496" y="1417320"/>
            <a:ext cx="5477256" cy="1149858"/>
          </a:xfrm>
          <a:prstGeom prst="roundRect">
            <a:avLst>
              <a:gd name="adj" fmla="val 5567"/>
            </a:avLst>
          </a:prstGeom>
          <a:solidFill>
            <a:srgbClr val="FBF3E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156362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19088" y="1563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76288" y="1527048"/>
            <a:ext cx="4700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(optional, AI)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876288" y="1837944"/>
            <a:ext cx="4700016" cy="6469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messy free text, adds evidence to the enrichment; any LLM failure falls back silently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695194"/>
            <a:ext cx="5477256" cy="1149858"/>
          </a:xfrm>
          <a:prstGeom prst="roundRect">
            <a:avLst>
              <a:gd name="adj" fmla="val 5567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2841498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28414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2804922"/>
            <a:ext cx="4700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(RAG)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78992" y="3115818"/>
            <a:ext cx="4700016" cy="6469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metadata ranking over KB chunks → primary/secondary runbook, citeable chunks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54496" y="2695194"/>
            <a:ext cx="5477256" cy="1149858"/>
          </a:xfrm>
          <a:prstGeom prst="roundRect">
            <a:avLst>
              <a:gd name="adj" fmla="val 5567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9088" y="2841498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19088" y="28414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76288" y="2804922"/>
            <a:ext cx="4700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Routing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3115818"/>
            <a:ext cx="4700016" cy="6469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SOP rules → 17-feature logistic regression → confidence-gated autonomy decision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973068"/>
            <a:ext cx="5477256" cy="1149858"/>
          </a:xfrm>
          <a:prstGeom prst="roundRect">
            <a:avLst>
              <a:gd name="adj" fmla="val 5567"/>
            </a:avLst>
          </a:prstGeom>
          <a:solidFill>
            <a:srgbClr val="FBF3E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411937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1792" y="41193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78992" y="4082796"/>
            <a:ext cx="4700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Opinion (optional, AI)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078992" y="4393692"/>
            <a:ext cx="4700016" cy="6469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compares its read to the decision — can add human review, can never change the route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54496" y="3973068"/>
            <a:ext cx="5477256" cy="1149858"/>
          </a:xfrm>
          <a:prstGeom prst="roundRect">
            <a:avLst>
              <a:gd name="adj" fmla="val 5567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19088" y="4119372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19088" y="41193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876288" y="4082796"/>
            <a:ext cx="4700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876288" y="4393692"/>
            <a:ext cx="4700016" cy="6469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steps by default (cannot hallucinate); LLM rewrite optional, still citation-required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5250942"/>
            <a:ext cx="5477256" cy="1149858"/>
          </a:xfrm>
          <a:prstGeom prst="roundRect">
            <a:avLst>
              <a:gd name="adj" fmla="val 5567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" y="5397246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1792" y="539724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78992" y="5360670"/>
            <a:ext cx="4700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1078992" y="5671566"/>
            <a:ext cx="4700016" cy="6469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independent checks — grounding, message, actions, coverage, injection, leak — before anything ships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54496" y="5250942"/>
            <a:ext cx="5477256" cy="1149858"/>
          </a:xfrm>
          <a:prstGeom prst="roundRect">
            <a:avLst>
              <a:gd name="adj" fmla="val 5567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19088" y="5397246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19088" y="539724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876288" y="5360670"/>
            <a:ext cx="4700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 → Comms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6876288" y="5671566"/>
            <a:ext cx="4700016" cy="6469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/ low-confidence / any guardrail drop routes to a human; else auto-send + audit log entry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ServeWell IT Support Agent Suite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COMPONENT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Grounding: how a ticket finds its runbook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78608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54480"/>
            <a:ext cx="2578608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/ FAQ / SOP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docs (markdown,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kb/ folder)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035808" y="155448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55848" y="1554480"/>
            <a:ext cx="2578608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55848" y="1554480"/>
            <a:ext cx="2578608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builder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section-aware chunking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content hash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934456" y="155448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54496" y="1554480"/>
            <a:ext cx="2578608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54496" y="1554480"/>
            <a:ext cx="2578608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lexical scoring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metadata ranking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(domain, version, subcat prior)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833104" y="155448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53144" y="1554480"/>
            <a:ext cx="2578608" cy="1371600"/>
          </a:xfrm>
          <a:prstGeom prst="roundRect">
            <a:avLst>
              <a:gd name="adj" fmla="val 3333"/>
            </a:avLst>
          </a:prstGeom>
          <a:solidFill>
            <a:srgbClr val="CADCFC"/>
          </a:solidFill>
          <a:ln w="1397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53144" y="1554480"/>
            <a:ext cx="2578608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object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primary/secondary runbook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citeable chunks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5454396" cy="2743200"/>
          </a:xfrm>
          <a:prstGeom prst="roundRect">
            <a:avLst>
              <a:gd name="adj" fmla="val 2333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7356" y="3246120"/>
            <a:ext cx="5454396" cy="2743200"/>
          </a:xfrm>
          <a:prstGeom prst="roundRect">
            <a:avLst>
              <a:gd name="adj" fmla="val 2333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429000"/>
            <a:ext cx="49057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choices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794760"/>
            <a:ext cx="4905756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= one step-group or Q&amp;A, keeps its heading path — every chunk is individually citeable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BM25, not dense-only: error codes (0x8004, ERR-4521) need exact-match, which dense retrieval is weakest at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is built from the de-emotionalized issue core, not the raw ticket rant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rebuilds from disk on startup, stamped with a content hash — new runbooks land with no code change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551676" y="3429000"/>
            <a:ext cx="49057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Sufficiency threshold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51676" y="3794760"/>
            <a:ext cx="4905756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MIN_PRIMARY_RUNBOOK_SCORE = 0.30 — below this, the agent refuses to ground on a runbook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adequate runbook → no steps issued, ticket routes toward human / L2 instead of guessing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subcategory → document prior, learned from the labelled training tickets, boosts ranking precision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can cite exactly which KB content hash it was grounded on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ServeWell IT Support Agent Suite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&amp; TOOLS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Facts are tool calls, not LLM guesses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54396" cy="4160520"/>
          </a:xfrm>
          <a:prstGeom prst="roundRect">
            <a:avLst>
              <a:gd name="adj" fmla="val 1538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49057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data tools (reads)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490575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get_store / get_asset — CMDB lookup by id; an asset either exists or it does not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assets_for_store — all assets of a type at a location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matrix lookup — priority → response-time commitment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history &amp; recurrence count (&gt;2 in 30 days → recurrence signal)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with a system of record is a tool call; the LLM is only used for language understanding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77356" y="1417320"/>
            <a:ext cx="54543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catalog (writes — allow-listed)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7356" y="1783080"/>
          <a:ext cx="5454396" cy="914400"/>
        </p:xfrm>
        <a:graphic>
          <a:graphicData uri="http://schemas.openxmlformats.org/drawingml/2006/table">
            <a:tbl>
              <a:tblPr/>
              <a:tblGrid>
                <a:gridCol w="3054462"/>
                <a:gridCol w="1581775"/>
                <a:gridCol w="818159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post_internal_note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reversible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post_requester_reply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reversible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request_clarification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reversible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redirect_non_it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reversible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run_diagnostic_ping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read_only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restart_print_spooler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reversible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remote_restart_pos_app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reversible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clear_pos_cache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reversible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suggest_priority_change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state_changing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escalate_to_l2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state_changing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remote_router_reboot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state_changing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277356" y="1783080"/>
            <a:ext cx="5454396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323076" y="1783080"/>
            <a:ext cx="296302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9377538" y="1783080"/>
            <a:ext cx="1490335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10959313" y="1783080"/>
            <a:ext cx="726719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6277356" y="5074920"/>
            <a:ext cx="54543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action ⇒ blocked. State-changing actions never auto-execute without approval, regardless of what an agent (or LLM) requests.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5715000"/>
            <a:ext cx="11274552" cy="594360"/>
          </a:xfrm>
          <a:prstGeom prst="roundRect">
            <a:avLst>
              <a:gd name="adj" fmla="val 10769"/>
            </a:avLst>
          </a:prstGeom>
          <a:solidFill>
            <a:srgbClr val="FDEDE8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5779008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</a:t>
            </a:r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attempt — allowed or blocked — is written to an append-only, hash-chained JSONL audit log (tamper-evident).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ServeWell IT Support Agent Suite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COMPONENT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independent checks, each named and loggable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575304" cy="2057400"/>
          </a:xfrm>
          <a:prstGeom prst="roundRect">
            <a:avLst>
              <a:gd name="adj" fmla="val 3111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563624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65960"/>
            <a:ext cx="3172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must exist in the retrieved set + token-overlap threshold (60% extractive / 35% LLM) + every hard entity (codes, paths, versions) must appear verbatim in the cited chunk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06824" y="1417320"/>
            <a:ext cx="3575304" cy="2057400"/>
          </a:xfrm>
          <a:prstGeom prst="roundRect">
            <a:avLst>
              <a:gd name="adj" fmla="val 3111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07992" y="1563624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 policy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07992" y="1965960"/>
            <a:ext cx="3172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forbidden commitments (refunds, guarantees, ETAs), no internal-only mailbox or requester phone echoed, acknowledgement required if the requester is upset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56448" y="1417320"/>
            <a:ext cx="3575304" cy="2057400"/>
          </a:xfrm>
          <a:prstGeom prst="roundRect">
            <a:avLst>
              <a:gd name="adj" fmla="val 3111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7616" y="1563624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allow-list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357616" y="1965960"/>
            <a:ext cx="3172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catalogued actions are ever proposed; state-changing ones never auto-execute without an approval gate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3575304" cy="2057400"/>
          </a:xfrm>
          <a:prstGeom prst="roundRect">
            <a:avLst>
              <a:gd name="adj" fmla="val 3111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3895344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/ sufficiency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4297680"/>
            <a:ext cx="3172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grounded steps survive → downgrade to human / L2 rather than send a thin, low-value answer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06824" y="3749040"/>
            <a:ext cx="3575304" cy="2057400"/>
          </a:xfrm>
          <a:prstGeom prst="roundRect">
            <a:avLst>
              <a:gd name="adj" fmla="val 3111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07992" y="3895344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Untrusted input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507992" y="4297680"/>
            <a:ext cx="3172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Instruction-like content inside ticket text is detected and flagged, never obeyed — the prompt-injection defense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56448" y="3749040"/>
            <a:ext cx="3575304" cy="2057400"/>
          </a:xfrm>
          <a:prstGeom prst="roundRect">
            <a:avLst>
              <a:gd name="adj" fmla="val 3111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57616" y="3895344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 guard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357616" y="4297680"/>
            <a:ext cx="3172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Dataset's own answer fields are stripped at intake, so the agent can never peek at the label it's being graded against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emits a named, loggable pass/fail into the audit report — this is the audit trail, not a black box.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ServeWell IT Support Agent Suite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PLATFORM MAPPING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POC maps onto the Intelligence Platform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54396" cy="4480560"/>
          </a:xfrm>
          <a:prstGeom prst="roundRect">
            <a:avLst>
              <a:gd name="adj" fmla="val 1429"/>
            </a:avLst>
          </a:prstGeom>
          <a:solidFill>
            <a:srgbClr val="F4F7F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49057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runs today (POC)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4905756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demo / run / text / eval / ui / ab / list — python -m servewell_agent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Web UI: stdlib HTTP server (no framework) + a single static HTML/JS page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behind one swappable interface: Groq, Gemini, or Anthropic — NullLLM is the default and the CI / live-demo fallback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models/escalation_model.json — trained, versioned, reviewable coefficients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out/ — eval metrics, audit log, batch results, all file-based and inspectable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7356" y="1417320"/>
            <a:ext cx="5454396" cy="4480560"/>
          </a:xfrm>
          <a:prstGeom prst="roundRect">
            <a:avLst>
              <a:gd name="adj" fmla="val 1429"/>
            </a:avLst>
          </a:prstGeom>
          <a:solidFill>
            <a:srgbClr val="E9F5EE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1676" y="1600200"/>
            <a:ext cx="49057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Maps onto the Intelligence Platform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51676" y="2011680"/>
            <a:ext cx="49057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index (BM25 + ranking)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Platform RAG service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51676" y="2670048"/>
            <a:ext cx="49057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StructuredData (CSV)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Structured IT data (tickets/assets/SLA/telemetry)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551676" y="3328416"/>
            <a:ext cx="49057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catalog + executor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Tooling endpoints (ITSM/CRM/ERP actions)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551676" y="3986784"/>
            <a:ext cx="49057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audit log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Platform observability &amp; governance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551676" y="4645152"/>
            <a:ext cx="49057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SupportAgentSuite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Platform agent orchestration layer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ServeWell IT Support Agent Suite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2026-09-23T07:04:28Z</dcterms:created>
  <dcterms:modified xsi:type="dcterms:W3CDTF">2026-09-23T07:04:28Z</dcterms:modified>
</cp:coreProperties>
</file>