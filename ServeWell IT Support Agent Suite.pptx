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81ED28-3F47-4A71-B39F-49F4D881DE95}">
  <a:tblStyle styleId="{AC81ED28-3F47-4A71-B39F-49F4D881DE9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0a1d30b24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40a1d30b24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40a1d30b24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40a1d30b243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40a1d30b243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40a1d30b243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0a1d30b243_1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40a1d30b243_1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40a1d30b243_1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40a1d30b243_1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40a1d30b243_1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40a1d30b243_1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40a1d30b243_1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40a1d30b243_1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40a1d30b243_1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977640"/>
            <a:ext cx="12188952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502920" y="2331720"/>
            <a:ext cx="111831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ServeWell </a:t>
            </a: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IT Support Agent Suite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02920" y="324612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Agentic L1 triage &amp; resolution — piloted on POS-offline &amp; printer-offline incidents, built on the </a:t>
            </a: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Intelligence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02920" y="5989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Applied AI Solution Architect  ·  Pilot Proposal &amp; 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0292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ServeWell Hospitality  ·  2,500+ locations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BUSINESS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L1 support is slow, repetitive, and burning the team 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502920" y="160020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E4572E"/>
                </a:solidFill>
                <a:latin typeface="Cambria"/>
                <a:ea typeface="Cambria"/>
                <a:cs typeface="Cambria"/>
                <a:sym typeface="Cambria"/>
              </a:rPr>
              <a:t>30–45 min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502920" y="23774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average time to a first meaningful response, during peak 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4297680" y="160020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E4572E"/>
                </a:solidFill>
                <a:latin typeface="Cambria"/>
                <a:ea typeface="Cambria"/>
                <a:cs typeface="Cambria"/>
                <a:sym typeface="Cambria"/>
              </a:rPr>
              <a:t>60–70%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4297680" y="23774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 tickets are known issues that already map to an existing runbook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8092440" y="160020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E4572E"/>
                </a:solidFill>
                <a:latin typeface="Cambria"/>
                <a:ea typeface="Cambria"/>
                <a:cs typeface="Cambria"/>
                <a:sym typeface="Cambria"/>
              </a:rPr>
              <a:t>2,500+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092440" y="23774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locations across brands, all funneling into the same strained L1 queue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3063240"/>
            <a:ext cx="11183112" cy="2926080"/>
          </a:xfrm>
          <a:prstGeom prst="roundRect">
            <a:avLst>
              <a:gd fmla="val 2500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Why it's stuck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822960" y="3657600"/>
            <a:ext cx="1054303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Inconsistent quality across shifts and locations — some stores get fast, accurate help; others bounce between L1 and L2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Knowledge is fragmented: runbooks live across Confluence, SharePoint, PDFs, and old email threads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Agents swivel-chair between a separate ITSM tool, CMDB/asset inventory, and knowledge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L2 engineers are overloaded with basic tickets that should never reach them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02920" y="6172200"/>
            <a:ext cx="11183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Bottom line: store downtime costs revenue, L1 burnout drives attrition, and L2 overload slows down the fixes that actually need experts.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PILOT 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Start narrow, prove it deeply, then scale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2920" y="1600200"/>
            <a:ext cx="5408676" cy="4297680"/>
          </a:xfrm>
          <a:prstGeom prst="roundRect">
            <a:avLst>
              <a:gd fmla="val 1702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277356" y="1600200"/>
            <a:ext cx="5408676" cy="4297680"/>
          </a:xfrm>
          <a:prstGeom prst="roundRect">
            <a:avLst>
              <a:gd fmla="val 1702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822960" y="1783080"/>
            <a:ext cx="47685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Phase 1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822960" y="2240280"/>
            <a:ext cx="4768596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2 high-frequency incident types: POS offline, receipt/kitchen printer not working — ~39% of ticket volume in the pilot sample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1 region, a representative slice of stores, run for 6–8 weeks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Full agent pipeline live: triage, grounded guidance, routing, and a proposed (simulated) action on every ticket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Every decision logged for audit — nothing is a black box during the pilot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6597396" y="1783080"/>
            <a:ext cx="47685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Success criteria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6597396" y="2240280"/>
            <a:ext cx="4768596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Cut average time-to-first-response for in-scope tickets, measured against today's 30–45 min baseline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Resolve or guide a majority of in-scope tickets without an L2 touch, while keeping escalation recall high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100% human review on P1 tickets and any low-confidence decision — no silent autonomy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Zero ungrounded guidance reaching a requester, verified in weekly QA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SOLUTION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Six agents, one deterministic backbone, AI as an optional lift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02920" y="2331720"/>
            <a:ext cx="1620012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 txBox="1"/>
          <p:nvPr/>
        </p:nvSpPr>
        <p:spPr>
          <a:xfrm>
            <a:off x="502920" y="2331720"/>
            <a:ext cx="16200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Triage &amp;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Enrich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2122932" y="2331720"/>
            <a:ext cx="29260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2415540" y="2331720"/>
            <a:ext cx="1620012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 txBox="1"/>
          <p:nvPr/>
        </p:nvSpPr>
        <p:spPr>
          <a:xfrm>
            <a:off x="2415540" y="2331720"/>
            <a:ext cx="16200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(RAG)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4035552" y="2331720"/>
            <a:ext cx="29260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328160" y="2331720"/>
            <a:ext cx="1620012" cy="1234440"/>
          </a:xfrm>
          <a:prstGeom prst="roundRect">
            <a:avLst>
              <a:gd fmla="val 4444" name="adj"/>
            </a:avLst>
          </a:prstGeom>
          <a:solidFill>
            <a:srgbClr val="CADCFC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4328160" y="2331720"/>
            <a:ext cx="16200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Policy &amp;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5948172" y="2331720"/>
            <a:ext cx="29260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240780" y="2331720"/>
            <a:ext cx="1620012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6240780" y="2331720"/>
            <a:ext cx="16200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Resolver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(Guidance)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7860792" y="2331720"/>
            <a:ext cx="29260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153400" y="2331720"/>
            <a:ext cx="1620012" cy="1234440"/>
          </a:xfrm>
          <a:prstGeom prst="roundRect">
            <a:avLst>
              <a:gd fmla="val 4444" name="adj"/>
            </a:avLst>
          </a:prstGeom>
          <a:solidFill>
            <a:srgbClr val="FDEDE8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8153400" y="2331720"/>
            <a:ext cx="16200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(verify)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9773412" y="2331720"/>
            <a:ext cx="29260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0066020" y="2331720"/>
            <a:ext cx="1620012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10066020" y="2331720"/>
            <a:ext cx="16200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Human Gate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→ Action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502920" y="1965960"/>
            <a:ext cx="16200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Ticket 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02920" y="3886200"/>
            <a:ext cx="11183112" cy="1417320"/>
          </a:xfrm>
          <a:prstGeom prst="roundRect">
            <a:avLst>
              <a:gd fmla="val 5161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822950" y="4132572"/>
            <a:ext cx="105432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trade-off: </a:t>
            </a:r>
            <a:r>
              <a:rPr b="0" i="1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deterministic core (rules + a small trained escalation model) always makes the final routing call. This is where we drew the autonomy line — it keeps the pilot reproducible, auditable, and safe to run even if the LLM is unavailable.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IT STAYS CORRECT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Grounded in facts, not vibes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02920" y="1600200"/>
            <a:ext cx="3544824" cy="4434840"/>
          </a:xfrm>
          <a:prstGeom prst="roundRect">
            <a:avLst>
              <a:gd fmla="val 2064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731520" y="1783080"/>
            <a:ext cx="3087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Retrieval (RAG)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731520" y="2240280"/>
            <a:ext cx="308762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Scoped by structured facts first — domain, system version, subcategory — then text similarity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Query is built from the de-emotionalized issue core, not the raw rant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Every guidance step cites its source chunk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322064" y="1600200"/>
            <a:ext cx="3544824" cy="4434840"/>
          </a:xfrm>
          <a:prstGeom prst="roundRect">
            <a:avLst>
              <a:gd fmla="val 2064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4550664" y="1783080"/>
            <a:ext cx="3087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Structured data &amp; tools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4550664" y="2240280"/>
            <a:ext cx="308762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Ticket history, asset/CMDB lookups, and SLA/priority rules are deterministic lookups — never an LLM guess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Routing runs on a small trained escalation model (logistic regression, 18 named features) — explainable and reproducible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The LLM reasons; the platform's structured tools decide facts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8141208" y="1600200"/>
            <a:ext cx="3544824" cy="4434840"/>
          </a:xfrm>
          <a:prstGeom prst="roundRect">
            <a:avLst>
              <a:gd fmla="val 2064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8369808" y="1783080"/>
            <a:ext cx="3087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Guardrails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8369808" y="2240280"/>
            <a:ext cx="308762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Every AI-written step or message is re-verified against its cited runbook chunk before it can reach a requester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P1 tickets and low-confidence decisions are forced into human review, always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Any LLM failure falls back to the deterministic path silently — a ticket is never blocked by a bad API call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A POS-offline ticket, start to finish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02920" y="1828800"/>
            <a:ext cx="1673352" cy="3566160"/>
          </a:xfrm>
          <a:prstGeom prst="roundRect">
            <a:avLst>
              <a:gd fmla="val 4372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1083564" y="2103120"/>
            <a:ext cx="512064" cy="51206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1083564" y="21031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40080" y="2788920"/>
            <a:ext cx="1399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Ingest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640080" y="3200400"/>
            <a:ext cx="139903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fresh POS-offline ticket comes in from a store — realistic, unedited 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2404872" y="1828800"/>
            <a:ext cx="1673352" cy="3566160"/>
          </a:xfrm>
          <a:prstGeom prst="roundRect">
            <a:avLst>
              <a:gd fmla="val 4372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2985516" y="2103120"/>
            <a:ext cx="512064" cy="51206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2985516" y="21031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2542032" y="2788920"/>
            <a:ext cx="1399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Ground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2542032" y="3200400"/>
            <a:ext cx="139903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Triage enriches it; retrieval pulls the matching runbook, scoped by asset &amp; system version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306824" y="1828800"/>
            <a:ext cx="1673352" cy="3566160"/>
          </a:xfrm>
          <a:prstGeom prst="roundRect">
            <a:avLst>
              <a:gd fmla="val 4372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887468" y="2103120"/>
            <a:ext cx="512064" cy="51206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 txBox="1"/>
          <p:nvPr/>
        </p:nvSpPr>
        <p:spPr>
          <a:xfrm>
            <a:off x="4887468" y="21031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4443984" y="2788920"/>
            <a:ext cx="1399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Decide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4443984" y="3200400"/>
            <a:ext cx="139903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policy engine returns a route and a confidence score — and explains why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208776" y="1828800"/>
            <a:ext cx="1673352" cy="3566160"/>
          </a:xfrm>
          <a:prstGeom prst="roundRect">
            <a:avLst>
              <a:gd fmla="val 4372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789420" y="2103120"/>
            <a:ext cx="512064" cy="51206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6789420" y="21031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6345936" y="2788920"/>
            <a:ext cx="1399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345936" y="3200400"/>
            <a:ext cx="139903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Step-by-step resolution guidance renders with a citation back to the runbook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110728" y="1828800"/>
            <a:ext cx="1673352" cy="3566160"/>
          </a:xfrm>
          <a:prstGeom prst="roundRect">
            <a:avLst>
              <a:gd fmla="val 4372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8691372" y="2103120"/>
            <a:ext cx="512064" cy="51206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8691372" y="21031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8247888" y="2788920"/>
            <a:ext cx="1399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Guard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8247888" y="3200400"/>
            <a:ext cx="139903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second, messier ticket shows a guardrail catching a low-confidence or ungrounded case 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0012680" y="1828800"/>
            <a:ext cx="1673352" cy="3566160"/>
          </a:xfrm>
          <a:prstGeom prst="roundRect">
            <a:avLst>
              <a:gd fmla="val 4372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0593324" y="2103120"/>
            <a:ext cx="512064" cy="51206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10593324" y="21031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10149840" y="2788920"/>
            <a:ext cx="1399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Audit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0149840" y="3200400"/>
            <a:ext cx="139903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decision — including the guardrail catch — lands in the audit log for review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502920" y="5669280"/>
            <a:ext cx="111831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Tied directly to the pilot's two in-scope incident types — nothing shown is staged outside the actual pipeline.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KPI TARGETS &amp;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We already know these numbers, from a 66-ticket held-out test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9"/>
          <p:cNvGraphicFramePr/>
          <p:nvPr/>
        </p:nvGraphicFramePr>
        <p:xfrm>
          <a:off x="50292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{AC81ED28-3F47-4A71-B39F-49F4D881DE95}</a:tableStyleId>
              </a:tblPr>
              <a:tblGrid>
                <a:gridCol w="3657600"/>
                <a:gridCol w="1828800"/>
                <a:gridCol w="56967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means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Routing accuracy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80.3%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vs. 77.3% majority-class baseline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L2 escalation recall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89.7%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genuinely complex tickets reach a human expert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runbook hit rate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93.9%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 finds the right SOP almost every time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Guidance steps grounded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nothing ungrounded reaches a requester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Adversarial "chaos" ticket pass rate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 / 36 (94%)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vague, contradictory, misdirecting, mislabeled inputs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latency / marginal cost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 ms · $0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deterministic core, no LLM call required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9"/>
          <p:cNvSpPr/>
          <p:nvPr/>
        </p:nvSpPr>
        <p:spPr>
          <a:xfrm>
            <a:off x="502920" y="1554480"/>
            <a:ext cx="11183112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594360" y="15544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4251960" y="1554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080760" y="1554480"/>
            <a:ext cx="5605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means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02920" y="4892040"/>
            <a:ext cx="11183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Confidence calibration already works: </a:t>
            </a: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94.6% accuracy on high-confidence calls vs. 62.1% on low-confidence ones — exactly why low-confidence and P1 tickets (33% of the set) are gated to a human today.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502920" y="5440680"/>
            <a:ext cx="111831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Pilot evaluation approach: </a:t>
            </a: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held-out labeled slice for accuracy, a purpose-built adversarial "chaos" suite for robustness, and a live A/B harness to measure the AI layer's actual lift on messy tickets before we expand its use.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502920" y="320040"/>
            <a:ext cx="128016" cy="128016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73152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SCALE-UP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502920" y="566928"/>
            <a:ext cx="111831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From two incident types to a full IT support fabric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02920" y="1600200"/>
            <a:ext cx="3544824" cy="4160520"/>
          </a:xfrm>
          <a:prstGeom prst="roundRect">
            <a:avLst>
              <a:gd fmla="val 2064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731520" y="1783080"/>
            <a:ext cx="3087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Phase 1 — Pilot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731520" y="2148840"/>
            <a:ext cx="3087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4572E"/>
                </a:solidFill>
                <a:latin typeface="Calibri"/>
                <a:ea typeface="Calibri"/>
                <a:cs typeface="Calibri"/>
                <a:sym typeface="Calibri"/>
              </a:rPr>
              <a:t>Weeks 0–8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731520" y="2514600"/>
            <a:ext cx="3087624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POS-offline + printer-offline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1 region, representative stores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Deterministic core; AI on the messy tail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Human review on every P1 / low-confidence 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322064" y="1600200"/>
            <a:ext cx="3544824" cy="4160520"/>
          </a:xfrm>
          <a:prstGeom prst="roundRect">
            <a:avLst>
              <a:gd fmla="val 2064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4550664" y="1783080"/>
            <a:ext cx="3087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Phase 2 — Expand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4550664" y="2148840"/>
            <a:ext cx="3087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4572E"/>
                </a:solidFill>
                <a:latin typeface="Calibri"/>
                <a:ea typeface="Calibri"/>
                <a:cs typeface="Calibri"/>
                <a:sym typeface="Calibri"/>
              </a:rPr>
              <a:t>Months 3–6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4550664" y="2514600"/>
            <a:ext cx="3087624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Add Wi-Fi/network &amp; kiosk incident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More brands and regions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Tune confidence thresholds from live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Introduce pre-approved write-back automations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8141208" y="1600200"/>
            <a:ext cx="3544824" cy="4160520"/>
          </a:xfrm>
          <a:prstGeom prst="roundRect">
            <a:avLst>
              <a:gd fmla="val 2064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8369808" y="1783080"/>
            <a:ext cx="30876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Phase 3 — Platform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8369808" y="2148840"/>
            <a:ext cx="3087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4572E"/>
                </a:solidFill>
                <a:latin typeface="Calibri"/>
                <a:ea typeface="Calibri"/>
                <a:cs typeface="Calibri"/>
                <a:sym typeface="Calibri"/>
              </a:rPr>
              <a:t>Month 6+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8369808" y="2514600"/>
            <a:ext cx="3087624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Roll out across 2,500+ locations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Full ITSM / CMDB integration on the Intelligence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Expand KB coverage; close retrieval gaps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Proactive, telemetry-triggered tickets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502920" y="5943600"/>
            <a:ext cx="11183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Scaling note: </a:t>
            </a:r>
            <a:r>
              <a:rPr b="0" i="1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deterministic core is stateless and horizontally scalable at $0 marginal cost. AI spend scales with the size of the messy long tail we choose to route to it — not with total ticket volume.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0" y="777240"/>
            <a:ext cx="12188952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502920" y="1051560"/>
            <a:ext cx="111831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1 pays for itself in reduced L1 / L2 load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02920" y="233172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 txBox="1"/>
          <p:nvPr/>
        </p:nvSpPr>
        <p:spPr>
          <a:xfrm>
            <a:off x="50292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502920" y="2926080"/>
            <a:ext cx="3544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Faster resolution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502920" y="3337560"/>
            <a:ext cx="35448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Cuts time-to-first-response on the highest-volume incident types — less store downtime, happier guests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322064" y="233172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4322064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4322064" y="2926080"/>
            <a:ext cx="3544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Lower L1 cost &amp; attrition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4322064" y="3337560"/>
            <a:ext cx="35448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Repetitive, known-pattern tickets stop consuming L1 agent time and morale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8141208" y="233172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8141208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8141208" y="2926080"/>
            <a:ext cx="3544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L2 freed for real 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8141208" y="3337560"/>
            <a:ext cx="35448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Fewer basic tickets escalated — experts spend time on issues that actually need them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02920" y="4846320"/>
            <a:ext cx="11183112" cy="18288"/>
          </a:xfrm>
          <a:prstGeom prst="rect">
            <a:avLst/>
          </a:prstGeom>
          <a:solidFill>
            <a:srgbClr val="3A44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 txBox="1"/>
          <p:nvPr/>
        </p:nvSpPr>
        <p:spPr>
          <a:xfrm>
            <a:off x="502920" y="6035040"/>
            <a:ext cx="11183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narrow pilot you can defend deeply beats a broad one you can only describe.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0" y="3840480"/>
            <a:ext cx="12189000" cy="411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457200" y="2286000"/>
            <a:ext cx="1127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457200" y="315468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ServeWell IT Support Agent Suite — agents, retrieval, tools, guardrails &amp; orchestration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457200" y="598932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Technical appendix  ·  Applied AI Solution Architect Pilot Proposal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457200" y="50292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Built on the </a:t>
            </a: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Intelligence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>
            <a:off x="457200" y="292608"/>
            <a:ext cx="128100" cy="1281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685800" y="2286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END-TO-END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457200" y="530352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Five layers, from ticket in to human-approved action out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57200" y="1325880"/>
            <a:ext cx="1097400" cy="4572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457200" y="132588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1691640" y="1325880"/>
            <a:ext cx="31638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 txBox="1"/>
          <p:nvPr/>
        </p:nvSpPr>
        <p:spPr>
          <a:xfrm>
            <a:off x="1691640" y="1325880"/>
            <a:ext cx="316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(demo / run / eval)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5129784" y="1325880"/>
            <a:ext cx="31638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5129784" y="1325880"/>
            <a:ext cx="316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Web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(stdlib HTTP + JS)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8567928" y="1325880"/>
            <a:ext cx="31638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8567928" y="1325880"/>
            <a:ext cx="316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Future: ITSM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webhook intake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6483096" y="1783080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57200" y="2039112"/>
            <a:ext cx="1097400" cy="411600"/>
          </a:xfrm>
          <a:prstGeom prst="roundRect">
            <a:avLst>
              <a:gd fmla="val 888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 txBox="1"/>
          <p:nvPr/>
        </p:nvSpPr>
        <p:spPr>
          <a:xfrm>
            <a:off x="457200" y="2039112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1691640" y="2039112"/>
            <a:ext cx="10040100" cy="4116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1691640" y="2039112"/>
            <a:ext cx="100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Ticket ingest &amp; parse — raw text / JSON / CSV / sample dataset  →  Ticket object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6483096" y="2450592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57200" y="2688336"/>
            <a:ext cx="1097400" cy="777300"/>
          </a:xfrm>
          <a:prstGeom prst="roundRect">
            <a:avLst>
              <a:gd fmla="val 4706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457200" y="2688336"/>
            <a:ext cx="1097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(Agent Suite)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1691640" y="2688336"/>
            <a:ext cx="1559100" cy="7773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 txBox="1"/>
          <p:nvPr/>
        </p:nvSpPr>
        <p:spPr>
          <a:xfrm>
            <a:off x="1691640" y="2688336"/>
            <a:ext cx="1559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Triage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&amp; Enrich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3387852" y="2688336"/>
            <a:ext cx="1559100" cy="777300"/>
          </a:xfrm>
          <a:prstGeom prst="roundRect">
            <a:avLst>
              <a:gd fmla="val 5882" name="adj"/>
            </a:avLst>
          </a:prstGeom>
          <a:solidFill>
            <a:srgbClr val="F4F7FD"/>
          </a:solidFill>
          <a:ln cap="flat" cmpd="sng" w="13950">
            <a:solidFill>
              <a:srgbClr val="1E27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3387852" y="2688336"/>
            <a:ext cx="1559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Reader*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(AI, optional)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5084064" y="2688336"/>
            <a:ext cx="1559100" cy="7773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 txBox="1"/>
          <p:nvPr/>
        </p:nvSpPr>
        <p:spPr>
          <a:xfrm>
            <a:off x="5084064" y="2688336"/>
            <a:ext cx="1559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(RAG)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6780276" y="2688336"/>
            <a:ext cx="1559100" cy="777300"/>
          </a:xfrm>
          <a:prstGeom prst="roundRect">
            <a:avLst>
              <a:gd fmla="val 5882" name="adj"/>
            </a:avLst>
          </a:prstGeom>
          <a:solidFill>
            <a:srgbClr val="CADCFC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 txBox="1"/>
          <p:nvPr/>
        </p:nvSpPr>
        <p:spPr>
          <a:xfrm>
            <a:off x="6780276" y="2688336"/>
            <a:ext cx="1559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&amp; Routing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8476488" y="2688336"/>
            <a:ext cx="1559100" cy="7773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8476488" y="2688336"/>
            <a:ext cx="1559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Resolver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(Guidance)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10172700" y="2688336"/>
            <a:ext cx="1559100" cy="7773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 txBox="1"/>
          <p:nvPr/>
        </p:nvSpPr>
        <p:spPr>
          <a:xfrm>
            <a:off x="10172700" y="2688336"/>
            <a:ext cx="1559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(verify)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6483096" y="3465576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57200" y="3703320"/>
            <a:ext cx="1097400" cy="777300"/>
          </a:xfrm>
          <a:prstGeom prst="roundRect">
            <a:avLst>
              <a:gd fmla="val 4706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 txBox="1"/>
          <p:nvPr/>
        </p:nvSpPr>
        <p:spPr>
          <a:xfrm>
            <a:off x="457200" y="3703320"/>
            <a:ext cx="1097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(simulated)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1691640" y="3703320"/>
            <a:ext cx="2373000" cy="777300"/>
          </a:xfrm>
          <a:prstGeom prst="roundRect">
            <a:avLst>
              <a:gd fmla="val 5882" name="adj"/>
            </a:avLst>
          </a:prstGeom>
          <a:solidFill>
            <a:srgbClr val="E9F5EE"/>
          </a:solidFill>
          <a:ln cap="flat" cmpd="sng" w="1395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1691640" y="3703320"/>
            <a:ext cx="2373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Knowledge / 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KB index (BM25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metadata ranking)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4247388" y="3703320"/>
            <a:ext cx="2373000" cy="777300"/>
          </a:xfrm>
          <a:prstGeom prst="roundRect">
            <a:avLst>
              <a:gd fmla="val 5882" name="adj"/>
            </a:avLst>
          </a:prstGeom>
          <a:solidFill>
            <a:srgbClr val="E9F5EE"/>
          </a:solidFill>
          <a:ln cap="flat" cmpd="sng" w="1395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 txBox="1"/>
          <p:nvPr/>
        </p:nvSpPr>
        <p:spPr>
          <a:xfrm>
            <a:off x="4247388" y="3703320"/>
            <a:ext cx="2373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Structured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stores / assets 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SLA / ticket history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803136" y="3703320"/>
            <a:ext cx="2373000" cy="777300"/>
          </a:xfrm>
          <a:prstGeom prst="roundRect">
            <a:avLst>
              <a:gd fmla="val 5882" name="adj"/>
            </a:avLst>
          </a:prstGeom>
          <a:solidFill>
            <a:srgbClr val="E9F5EE"/>
          </a:solidFill>
          <a:ln cap="flat" cmpd="sng" w="1395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6803136" y="3703320"/>
            <a:ext cx="2373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Action catalog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executor (allow-list)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9358884" y="3703320"/>
            <a:ext cx="2373000" cy="777300"/>
          </a:xfrm>
          <a:prstGeom prst="roundRect">
            <a:avLst>
              <a:gd fmla="val 5882" name="adj"/>
            </a:avLst>
          </a:prstGeom>
          <a:solidFill>
            <a:srgbClr val="E9F5EE"/>
          </a:solidFill>
          <a:ln cap="flat" cmpd="sng" w="1395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9358884" y="3703320"/>
            <a:ext cx="2373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Hash-chained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6483096" y="4480560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57200" y="4718304"/>
            <a:ext cx="1097400" cy="4572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 txBox="1"/>
          <p:nvPr/>
        </p:nvSpPr>
        <p:spPr>
          <a:xfrm>
            <a:off x="457200" y="4718304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Gate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Outputs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1691640" y="4718304"/>
            <a:ext cx="3163800" cy="457200"/>
          </a:xfrm>
          <a:prstGeom prst="roundRect">
            <a:avLst>
              <a:gd fmla="val 10000" name="adj"/>
            </a:avLst>
          </a:prstGeom>
          <a:solidFill>
            <a:srgbClr val="FDEDE8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 txBox="1"/>
          <p:nvPr/>
        </p:nvSpPr>
        <p:spPr>
          <a:xfrm>
            <a:off x="1691640" y="4718304"/>
            <a:ext cx="316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Human approval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(P1 / low-confidence)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129784" y="4718304"/>
            <a:ext cx="31638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 txBox="1"/>
          <p:nvPr/>
        </p:nvSpPr>
        <p:spPr>
          <a:xfrm>
            <a:off x="5129784" y="4718304"/>
            <a:ext cx="316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Requester 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+ guided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8567928" y="4718304"/>
            <a:ext cx="31638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 txBox="1"/>
          <p:nvPr/>
        </p:nvSpPr>
        <p:spPr>
          <a:xfrm>
            <a:off x="8567928" y="4718304"/>
            <a:ext cx="316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Ticket update 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L2 escalation handoff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457200" y="6108192"/>
            <a:ext cx="112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*Reader (AI) adds evidence and an advisory opinion only — it never decides the route or bypasses a guardrail.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1136599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Architecture — 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/>
          <p:nvPr/>
        </p:nvSpPr>
        <p:spPr>
          <a:xfrm>
            <a:off x="457200" y="292608"/>
            <a:ext cx="128100" cy="1281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 txBox="1"/>
          <p:nvPr/>
        </p:nvSpPr>
        <p:spPr>
          <a:xfrm>
            <a:off x="685800" y="2286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AGENT ORCHESTRATION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457200" y="530352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500"/>
              <a:buFont typeface="Cambria"/>
              <a:buNone/>
            </a:pPr>
            <a:r>
              <a:rPr b="1" lang="en-US" sz="25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b="1" i="0" lang="en-US" sz="2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xact call order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457200" y="1417320"/>
            <a:ext cx="5477400" cy="1149900"/>
          </a:xfrm>
          <a:prstGeom prst="roundRect">
            <a:avLst>
              <a:gd fmla="val 5567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621792" y="1563624"/>
            <a:ext cx="365700" cy="3657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 txBox="1"/>
          <p:nvPr/>
        </p:nvSpPr>
        <p:spPr>
          <a:xfrm>
            <a:off x="621792" y="156362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1078992" y="1527048"/>
            <a:ext cx="47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Triage &amp; Enrich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1078992" y="1837944"/>
            <a:ext cx="470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Rule-based: domain, issue core, error codes, dissatisfaction, injection flags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254496" y="1417320"/>
            <a:ext cx="5477400" cy="1149900"/>
          </a:xfrm>
          <a:prstGeom prst="roundRect">
            <a:avLst>
              <a:gd fmla="val 5567" name="adj"/>
            </a:avLst>
          </a:prstGeom>
          <a:solidFill>
            <a:srgbClr val="FBF3EF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6419088" y="1563624"/>
            <a:ext cx="365700" cy="3657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6419088" y="156362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6876288" y="1527048"/>
            <a:ext cx="47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Reader (optional, AI)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 txBox="1"/>
          <p:nvPr/>
        </p:nvSpPr>
        <p:spPr>
          <a:xfrm>
            <a:off x="6876288" y="1837944"/>
            <a:ext cx="470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Reads messy free text, adds evidence to the enrichment; any LLM failure falls back silently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57200" y="2695194"/>
            <a:ext cx="5477400" cy="1149900"/>
          </a:xfrm>
          <a:prstGeom prst="roundRect">
            <a:avLst>
              <a:gd fmla="val 5567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621792" y="2841498"/>
            <a:ext cx="365700" cy="3657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621792" y="2841498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078992" y="2804922"/>
            <a:ext cx="47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Retrieve (RAG)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1078992" y="3115818"/>
            <a:ext cx="470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BM25 + metadata ranking over KB chunks → primary/secondary runbook, citeable chunks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254496" y="2695194"/>
            <a:ext cx="5477400" cy="1149900"/>
          </a:xfrm>
          <a:prstGeom prst="roundRect">
            <a:avLst>
              <a:gd fmla="val 5567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6419088" y="2841498"/>
            <a:ext cx="365700" cy="3657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6419088" y="2841498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6876288" y="2804922"/>
            <a:ext cx="47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Policy &amp; Routing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6876288" y="3115818"/>
            <a:ext cx="470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Hard SOP rules → 17-feature logistic regression → confidence-gated autonomy decision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7200" y="3973068"/>
            <a:ext cx="5477400" cy="1149900"/>
          </a:xfrm>
          <a:prstGeom prst="roundRect">
            <a:avLst>
              <a:gd fmla="val 5567" name="adj"/>
            </a:avLst>
          </a:prstGeom>
          <a:solidFill>
            <a:srgbClr val="FBF3EF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621792" y="4119372"/>
            <a:ext cx="365700" cy="3657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621792" y="411937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1078992" y="4082796"/>
            <a:ext cx="47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Second Opinion (optional, AI)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1078992" y="4393692"/>
            <a:ext cx="470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Reader compares its read to the decision — can add human review, can never change the route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6254496" y="3973068"/>
            <a:ext cx="5477400" cy="1149900"/>
          </a:xfrm>
          <a:prstGeom prst="roundRect">
            <a:avLst>
              <a:gd fmla="val 5567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6419088" y="4119372"/>
            <a:ext cx="365700" cy="3657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6419088" y="411937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6876288" y="4082796"/>
            <a:ext cx="47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Resolver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6876288" y="4393692"/>
            <a:ext cx="470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Extractive steps by default (cannot hallucinate); LLM rewrite optional, still citation-required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457200" y="5250942"/>
            <a:ext cx="5477400" cy="1149900"/>
          </a:xfrm>
          <a:prstGeom prst="roundRect">
            <a:avLst>
              <a:gd fmla="val 5567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21792" y="5397246"/>
            <a:ext cx="365700" cy="3657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621792" y="5397246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1078992" y="5360670"/>
            <a:ext cx="47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1078992" y="5671566"/>
            <a:ext cx="470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independent checks — grounding, message, actions, coverage, injection, leak — before anything ships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254496" y="5250942"/>
            <a:ext cx="5477400" cy="1149900"/>
          </a:xfrm>
          <a:prstGeom prst="roundRect">
            <a:avLst>
              <a:gd fmla="val 5567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6419088" y="5397246"/>
            <a:ext cx="365700" cy="3657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 txBox="1"/>
          <p:nvPr/>
        </p:nvSpPr>
        <p:spPr>
          <a:xfrm>
            <a:off x="6419088" y="5397246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6876288" y="5360670"/>
            <a:ext cx="47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Human Gate → Comms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6876288" y="5671566"/>
            <a:ext cx="470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P1 / low-confidence / any guardrail drop routes to a human; else auto-send + audit log entry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1136599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Architecture — 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/>
          <p:nvPr/>
        </p:nvSpPr>
        <p:spPr>
          <a:xfrm>
            <a:off x="457200" y="292608"/>
            <a:ext cx="128100" cy="1281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685800" y="2286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RETRIEVAL COMPONENT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457200" y="530352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Grounding: how a ticket finds its runbook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457200" y="1554480"/>
            <a:ext cx="2578500" cy="13716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457200" y="1554480"/>
            <a:ext cx="257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Runbooks / FAQ / SOP 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Spec docs (markdown,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kb/ folder)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3035808" y="1554480"/>
            <a:ext cx="320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3355848" y="1554480"/>
            <a:ext cx="2578500" cy="13716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 txBox="1"/>
          <p:nvPr/>
        </p:nvSpPr>
        <p:spPr>
          <a:xfrm>
            <a:off x="3355848" y="1554480"/>
            <a:ext cx="257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Index builder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section-aware chunking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+ content hash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5934456" y="1554480"/>
            <a:ext cx="320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6254496" y="1554480"/>
            <a:ext cx="2578500" cy="13716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 txBox="1"/>
          <p:nvPr/>
        </p:nvSpPr>
        <p:spPr>
          <a:xfrm>
            <a:off x="6254496" y="1554480"/>
            <a:ext cx="257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BM25 lexical scoring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+ metadata ranking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(domain, version, subcat prior)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8833104" y="1554480"/>
            <a:ext cx="320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9153144" y="1554480"/>
            <a:ext cx="2578500" cy="1371600"/>
          </a:xfrm>
          <a:prstGeom prst="roundRect">
            <a:avLst>
              <a:gd fmla="val 3333" name="adj"/>
            </a:avLst>
          </a:prstGeom>
          <a:solidFill>
            <a:srgbClr val="CADCFC"/>
          </a:solidFill>
          <a:ln cap="flat" cmpd="sng" w="139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9153144" y="1554480"/>
            <a:ext cx="257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Retrieval object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primary/secondary runbook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+ citeable chunks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57200" y="3246120"/>
            <a:ext cx="5454300" cy="2743200"/>
          </a:xfrm>
          <a:prstGeom prst="roundRect">
            <a:avLst>
              <a:gd fmla="val 2333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6277356" y="3246120"/>
            <a:ext cx="5454300" cy="2743200"/>
          </a:xfrm>
          <a:prstGeom prst="roundRect">
            <a:avLst>
              <a:gd fmla="val 2333" name="adj"/>
            </a:avLst>
          </a:prstGeom>
          <a:solidFill>
            <a:srgbClr val="F4F7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731520" y="3429000"/>
            <a:ext cx="490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Design choices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731520" y="3794760"/>
            <a:ext cx="49059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Chunk = one step-group or Q&amp;A, keeps its heading path — every chunk is individually citeable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Lexical BM25, not dense-only: error codes (0x8004, ERR-4521) need exact-match, which dense retrieval is weakest 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Query is built from the de-emotionalized issue core, not the raw ticket rant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Index rebuilds from disk on startup, stamped with a content hash — new runbooks land with no code change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6551676" y="3429000"/>
            <a:ext cx="490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Sufficiency threshold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6551676" y="3794760"/>
            <a:ext cx="49059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MIN_PRIMARY_RUNBOOK_SCORE = 0.30 — below this, the agent refuses to ground on a runbook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No adequate runbook → no steps issued, ticket routes toward human / L2 instead of guessing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 subcategory → document prior, learned from the labelled training tickets, boosts ranking precision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Every answer can cite exactly which KB content hash it was grounded 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1136599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Architecture — ServeWell IT Support Agent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/>
          <p:nvPr/>
        </p:nvSpPr>
        <p:spPr>
          <a:xfrm>
            <a:off x="0" y="3840480"/>
            <a:ext cx="12189000" cy="411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 txBox="1"/>
          <p:nvPr/>
        </p:nvSpPr>
        <p:spPr>
          <a:xfrm>
            <a:off x="457200" y="2286000"/>
            <a:ext cx="1127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you!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457200" y="598932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Technical appendix  ·  Applied AI Solution Architect Pilot Proposal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457200" y="50292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Built on the </a:t>
            </a: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Intelligence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